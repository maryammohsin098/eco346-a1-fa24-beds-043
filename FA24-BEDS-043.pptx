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mean earnings (Rs thousand)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665-4929-83C5-61DD82E05452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65-4929-83C5-61DD82E05452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65-4929-83C5-61DD82E05452}"/>
              </c:ext>
            </c:extLst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665-4929-83C5-61DD82E05452}"/>
              </c:ext>
            </c:extLst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665-4929-83C5-61DD82E05452}"/>
              </c:ext>
            </c:extLst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665-4929-83C5-61DD82E05452}"/>
              </c:ext>
            </c:extLst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665-4929-83C5-61DD82E05452}"/>
              </c:ext>
            </c:extLst>
          </c:dPt>
          <c:dPt>
            <c:idx val="7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665-4929-83C5-61DD82E05452}"/>
              </c:ext>
            </c:extLst>
          </c:dPt>
          <c:dPt>
            <c:idx val="8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665-4929-83C5-61DD82E05452}"/>
              </c:ext>
            </c:extLst>
          </c:dPt>
          <c:dPt>
            <c:idx val="9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D665-4929-83C5-61DD82E0545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F23"/>
                    </a:solidFill>
                    <a:latin typeface="+mn-lt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15-19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193</c:v>
                </c:pt>
                <c:pt idx="1">
                  <c:v>223</c:v>
                </c:pt>
                <c:pt idx="2">
                  <c:v>303</c:v>
                </c:pt>
                <c:pt idx="3">
                  <c:v>379</c:v>
                </c:pt>
                <c:pt idx="4">
                  <c:v>360</c:v>
                </c:pt>
                <c:pt idx="5">
                  <c:v>447</c:v>
                </c:pt>
                <c:pt idx="6">
                  <c:v>432</c:v>
                </c:pt>
                <c:pt idx="7">
                  <c:v>531</c:v>
                </c:pt>
                <c:pt idx="8">
                  <c:v>542</c:v>
                </c:pt>
                <c:pt idx="9">
                  <c:v>414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D665-4929-83C5-61DD82E054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B1F23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1B1F23"/>
                    </a:solidFill>
                    <a:latin typeface="Arial"/>
                  </a:rPr>
                  <a:t>Age band (years)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3"/>
                </a:solidFill>
                <a:latin typeface="+mn-lt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9E2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632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Variant: last two digits 43 = 5 x 8 + 3, so variant 3, Sindh urban. Sample: earners aged 15-64 with earn_annual &gt; 0, weighted by hhweight.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Weighted median is about 5% above the unweighted: weights give more influence to households that represent more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Principles: perceptual ranking of channels (common-scale position), overplotting, log scale, conditional means, data-ink.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finding: the age profile of mean earnings. Small dips at 35-39 and 45-49. No band has fewer than 30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ADCE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ADCE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in urban Sindh: how they are spread and their variation with age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E2"/>
                </a:solidFill>
              </a:rPr>
              <a:t>PSLM 2019-20 person file  |  Variant 3: Sindh urban </a:t>
            </a:r>
            <a:endParaRPr lang="en-US" sz="1600" dirty="0"/>
          </a:p>
        </p:txBody>
      </p:sp>
      <p:sp>
        <p:nvSpPr>
          <p:cNvPr id="4" name="Stat card 1"/>
          <p:cNvSpPr/>
          <p:nvPr/>
        </p:nvSpPr>
        <p:spPr>
          <a:xfrm>
            <a:off x="548640" y="30175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34E5E"/>
          </a:solidFill>
          <a:ln w="12700">
            <a:solidFill>
              <a:srgbClr val="134E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2,644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393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earners aged 15-64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291840" y="30175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34E5E"/>
          </a:solidFill>
          <a:ln w="12700">
            <a:solidFill>
              <a:srgbClr val="134E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264,000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6393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weighted median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6035040" y="30175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34E5E"/>
          </a:solidFill>
          <a:ln w="12700">
            <a:solidFill>
              <a:srgbClr val="134E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6393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p90 / p10 ratio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E2"/>
                </a:solidFill>
              </a:rPr>
              <a:t>MARYAM MOHSIN  |  FA24-BEDS-043  |  ECO346 Assignment 1, Section 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ADCE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A64E2D1-DF30-6285-29D5-908D24A14F02}"/>
              </a:ext>
            </a:extLst>
          </p:cNvPr>
          <p:cNvSpPr/>
          <p:nvPr/>
        </p:nvSpPr>
        <p:spPr>
          <a:xfrm>
            <a:off x="365760" y="1238669"/>
            <a:ext cx="5388967" cy="3379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90th percentile of earnings is 5.8 times the 10th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264,000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weighted median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252,000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unweighted median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120,000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weighted 10th percentile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696,000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weighted 90th percentile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2 of 2,644 earners fall outside Rs 10,000 to Rs 10,000,000 and are excluded from the histogram.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AD9F506-42EC-1D81-88D5-2ECD28215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774" y="1315589"/>
            <a:ext cx="5246938" cy="320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B5F5C2E-57CA-6650-334D-1179BA5D08D8}"/>
              </a:ext>
            </a:extLst>
          </p:cNvPr>
          <p:cNvSpPr/>
          <p:nvPr/>
        </p:nvSpPr>
        <p:spPr>
          <a:xfrm>
            <a:off x="4416107" y="1155700"/>
            <a:ext cx="4064211" cy="2510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 0"/>
          <p:cNvSpPr/>
          <p:nvPr/>
        </p:nvSpPr>
        <p:spPr>
          <a:xfrm>
            <a:off x="411480" y="21820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makeover: from R's default to a figure that shows the pattern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10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3310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" y="3987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Log scale in rupees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" y="4262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Position on one common scale; spreads the skewed bulk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68980" y="3987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Alpha 0.15 + jitter 0.4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68980" y="4262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Cures overplotting at each integer age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57900" y="3987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Weighted band means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57900" y="4262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Shows the conditional mean the cloud hides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" y="46663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The default shows the 2 earners outside Rs 10,000 to 10,000,000; the redesign hides them.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30D14A-560D-22DD-5628-FA111053073D}"/>
              </a:ext>
            </a:extLst>
          </p:cNvPr>
          <p:cNvGrpSpPr/>
          <p:nvPr/>
        </p:nvGrpSpPr>
        <p:grpSpPr>
          <a:xfrm>
            <a:off x="484188" y="1155700"/>
            <a:ext cx="3478212" cy="2539256"/>
            <a:chOff x="484188" y="1143000"/>
            <a:chExt cx="3478212" cy="275044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8AB4F40-C809-E235-9D89-9920423C1042}"/>
                </a:ext>
              </a:extLst>
            </p:cNvPr>
            <p:cNvSpPr/>
            <p:nvPr/>
          </p:nvSpPr>
          <p:spPr>
            <a:xfrm>
              <a:off x="484188" y="1143000"/>
              <a:ext cx="3478212" cy="27504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6B7D9B89-0A9D-433D-FD94-4D9F4AB8C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6466" y="1174131"/>
              <a:ext cx="3412067" cy="2688186"/>
            </a:xfrm>
            <a:prstGeom prst="rect">
              <a:avLst/>
            </a:prstGeom>
          </p:spPr>
        </p:pic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CC0E7812-2655-A860-6AE7-33F5D10F4E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1963" y="1197390"/>
            <a:ext cx="3960517" cy="24203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DB83229-E653-ECDD-738E-5814E5F65FCF}"/>
              </a:ext>
            </a:extLst>
          </p:cNvPr>
          <p:cNvSpPr txBox="1"/>
          <p:nvPr/>
        </p:nvSpPr>
        <p:spPr>
          <a:xfrm>
            <a:off x="795481" y="3695732"/>
            <a:ext cx="2854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solidFill>
                  <a:schemeClr val="accent1">
                    <a:lumMod val="75000"/>
                  </a:schemeClr>
                </a:solidFill>
              </a:rPr>
              <a:t>Default</a:t>
            </a:r>
            <a:endParaRPr lang="en-PK" sz="1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90813E-8B9C-641C-4696-0EC5FB06FE0B}"/>
              </a:ext>
            </a:extLst>
          </p:cNvPr>
          <p:cNvSpPr txBox="1"/>
          <p:nvPr/>
        </p:nvSpPr>
        <p:spPr>
          <a:xfrm>
            <a:off x="5181602" y="3640284"/>
            <a:ext cx="2854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solidFill>
                  <a:schemeClr val="accent1">
                    <a:lumMod val="75000"/>
                  </a:schemeClr>
                </a:solidFill>
              </a:rPr>
              <a:t>Redesign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earnings peak at Rs 542,400 at ages 55-59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23444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10972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Weighted mean annual earnings, Rs thousand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2.8x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mean at 55-59 vs 15-19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414,262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falls at ages 60-64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3375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Limit: one cross-section, so age and birth cohort are confounded; it cannot show how one person's earnings change.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R and Python band tables agree to the rupee (band 25-29: Rs 303,154).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ndh Earnings">
  <a:themeElements>
    <a:clrScheme name="Sindh Earnings">
      <a:dk1>
        <a:srgbClr val="1B1F23"/>
      </a:dk1>
      <a:lt1>
        <a:srgbClr val="FFFFFF"/>
      </a:lt1>
      <a:dk2>
        <a:srgbClr val="0B3C49"/>
      </a:dk2>
      <a:lt2>
        <a:srgbClr val="EAF1F3"/>
      </a:lt2>
      <a:accent1>
        <a:srgbClr val="C8553D"/>
      </a:accent1>
      <a:accent2>
        <a:srgbClr val="1C7293"/>
      </a:accent2>
      <a:accent3>
        <a:srgbClr val="7A8B93"/>
      </a:accent3>
      <a:accent4>
        <a:srgbClr val="E0A458"/>
      </a:accent4>
      <a:accent5>
        <a:srgbClr val="2C5F2D"/>
      </a:accent5>
      <a:accent6>
        <a:srgbClr val="6D2E46"/>
      </a:accent6>
      <a:hlink>
        <a:srgbClr val="1C7293"/>
      </a:hlink>
      <a:folHlink>
        <a:srgbClr val="7A8B93"/>
      </a:folHlink>
    </a:clrScheme>
    <a:fontScheme name="Sindh Earning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343</Words>
  <Application>Microsoft Office PowerPoint</Application>
  <PresentationFormat>On-screen Show (16:9)</PresentationFormat>
  <Paragraphs>50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Sindh Earnings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Assignment 1</dc:title>
  <dc:subject>PptxGenJS Presentation</dc:subject>
  <dc:creator>PptxGenJS</dc:creator>
  <cp:lastModifiedBy>FA24-BED-043(MARYAM MOHSIN)</cp:lastModifiedBy>
  <cp:revision>4</cp:revision>
  <dcterms:created xsi:type="dcterms:W3CDTF">2026-10-25T19:11:21Z</dcterms:created>
  <dcterms:modified xsi:type="dcterms:W3CDTF">2026-10-27T19:49:54Z</dcterms:modified>
</cp:coreProperties>
</file>